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8"/>
  </p:notesMasterIdLst>
  <p:sldIdLst>
    <p:sldId id="256" r:id="rId2"/>
    <p:sldId id="267" r:id="rId3"/>
    <p:sldId id="285" r:id="rId4"/>
    <p:sldId id="284" r:id="rId5"/>
    <p:sldId id="286" r:id="rId6"/>
    <p:sldId id="27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46"/>
    <p:restoredTop sz="94730"/>
  </p:normalViewPr>
  <p:slideViewPr>
    <p:cSldViewPr snapToGrid="0">
      <p:cViewPr>
        <p:scale>
          <a:sx n="100" d="100"/>
          <a:sy n="100" d="100"/>
        </p:scale>
        <p:origin x="872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EE521F-8580-384F-B8AC-66E76EC1FA8E}" type="doc">
      <dgm:prSet loTypeId="urn:microsoft.com/office/officeart/2005/8/layout/radial3" loCatId="" qsTypeId="urn:microsoft.com/office/officeart/2005/8/quickstyle/3d4" qsCatId="3D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210E67A2-AE30-0944-BD0F-BBA4CDF7A964}">
      <dgm:prSet phldrT="[Text]" custT="1"/>
      <dgm:spPr/>
      <dgm:t>
        <a:bodyPr/>
        <a:lstStyle/>
        <a:p>
          <a:pPr algn="ctr"/>
          <a:r>
            <a:rPr lang="en-US" sz="3200" dirty="0">
              <a:latin typeface="Cambria Math" panose="02040503050406030204" pitchFamily="18" charset="0"/>
              <a:ea typeface="Cambria Math" panose="02040503050406030204" pitchFamily="18" charset="0"/>
            </a:rPr>
            <a:t>For every decisecond (0.1 seconds) up to 12 seconds before any goal…</a:t>
          </a:r>
        </a:p>
      </dgm:t>
    </dgm:pt>
    <dgm:pt modelId="{13D594ED-BE05-7747-AD72-CC80B957257C}" type="parTrans" cxnId="{22DF0ADA-32DC-954D-892B-A1EF2B5DCA26}">
      <dgm:prSet/>
      <dgm:spPr/>
      <dgm:t>
        <a:bodyPr/>
        <a:lstStyle/>
        <a:p>
          <a:endParaRPr lang="en-US"/>
        </a:p>
      </dgm:t>
    </dgm:pt>
    <dgm:pt modelId="{FD67C8B1-ABEB-D146-A16C-1BD40DA72B67}" type="sibTrans" cxnId="{22DF0ADA-32DC-954D-892B-A1EF2B5DCA26}">
      <dgm:prSet/>
      <dgm:spPr/>
      <dgm:t>
        <a:bodyPr/>
        <a:lstStyle/>
        <a:p>
          <a:endParaRPr lang="en-US"/>
        </a:p>
      </dgm:t>
    </dgm:pt>
    <dgm:pt modelId="{D739080E-EE1A-5B49-BB5D-8D448871472D}">
      <dgm:prSet phldrT="[Text]" custT="1"/>
      <dgm:spPr/>
      <dgm:t>
        <a:bodyPr/>
        <a:lstStyle/>
        <a:p>
          <a:r>
            <a:rPr lang="en-US" sz="2400" b="1" dirty="0">
              <a:latin typeface="Cambria Math" panose="02040503050406030204" pitchFamily="18" charset="0"/>
              <a:ea typeface="Cambria Math" panose="02040503050406030204" pitchFamily="18" charset="0"/>
            </a:rPr>
            <a:t>Player’s</a:t>
          </a:r>
        </a:p>
        <a:p>
          <a:r>
            <a:rPr lang="en-US" sz="2400" b="1" dirty="0">
              <a:latin typeface="Cambria Math" panose="02040503050406030204" pitchFamily="18" charset="0"/>
              <a:ea typeface="Cambria Math" panose="02040503050406030204" pitchFamily="18" charset="0"/>
            </a:rPr>
            <a:t>x &amp; y</a:t>
          </a:r>
          <a:endParaRPr lang="en-US" sz="24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846758E1-EB78-B047-9FE3-0A16679612CC}" type="parTrans" cxnId="{73113FA8-E46D-8546-8B5B-39719A30ADCD}">
      <dgm:prSet/>
      <dgm:spPr/>
      <dgm:t>
        <a:bodyPr/>
        <a:lstStyle/>
        <a:p>
          <a:endParaRPr lang="en-US"/>
        </a:p>
      </dgm:t>
    </dgm:pt>
    <dgm:pt modelId="{6406D7AB-404D-5141-8475-F385C06040E5}" type="sibTrans" cxnId="{73113FA8-E46D-8546-8B5B-39719A30ADCD}">
      <dgm:prSet/>
      <dgm:spPr/>
      <dgm:t>
        <a:bodyPr/>
        <a:lstStyle/>
        <a:p>
          <a:endParaRPr lang="en-US"/>
        </a:p>
      </dgm:t>
    </dgm:pt>
    <dgm:pt modelId="{192D5F22-F32E-7E43-8E36-12912FF5C8FA}">
      <dgm:prSet phldrT="[Text]" custT="1"/>
      <dgm:spPr/>
      <dgm:t>
        <a:bodyPr/>
        <a:lstStyle/>
        <a:p>
          <a:r>
            <a:rPr lang="en-US" sz="2400" b="1" dirty="0">
              <a:latin typeface="Cambria Math" panose="02040503050406030204" pitchFamily="18" charset="0"/>
              <a:ea typeface="Cambria Math" panose="02040503050406030204" pitchFamily="18" charset="0"/>
            </a:rPr>
            <a:t>Puck’s</a:t>
          </a:r>
        </a:p>
        <a:p>
          <a:r>
            <a:rPr lang="en-US" sz="2400" b="1" dirty="0">
              <a:latin typeface="Cambria Math" panose="02040503050406030204" pitchFamily="18" charset="0"/>
              <a:ea typeface="Cambria Math" panose="02040503050406030204" pitchFamily="18" charset="0"/>
            </a:rPr>
            <a:t>x &amp; y</a:t>
          </a:r>
          <a:endParaRPr lang="en-US" sz="2400" dirty="0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18FF4B60-81F8-9F4D-B099-1F9BDA2D849E}" type="parTrans" cxnId="{3EE5AF35-7087-6B44-A0B5-822FFBB3484E}">
      <dgm:prSet/>
      <dgm:spPr/>
      <dgm:t>
        <a:bodyPr/>
        <a:lstStyle/>
        <a:p>
          <a:endParaRPr lang="en-US"/>
        </a:p>
      </dgm:t>
    </dgm:pt>
    <dgm:pt modelId="{EC5C9F1A-019F-6B48-AFD1-6091D99EE1EB}" type="sibTrans" cxnId="{3EE5AF35-7087-6B44-A0B5-822FFBB3484E}">
      <dgm:prSet/>
      <dgm:spPr/>
      <dgm:t>
        <a:bodyPr/>
        <a:lstStyle/>
        <a:p>
          <a:endParaRPr lang="en-US"/>
        </a:p>
      </dgm:t>
    </dgm:pt>
    <dgm:pt modelId="{58E6A2F5-721F-8444-BD9F-D94416D2DBF2}" type="pres">
      <dgm:prSet presAssocID="{F1EE521F-8580-384F-B8AC-66E76EC1FA8E}" presName="composite" presStyleCnt="0">
        <dgm:presLayoutVars>
          <dgm:chMax val="1"/>
          <dgm:dir/>
          <dgm:resizeHandles val="exact"/>
        </dgm:presLayoutVars>
      </dgm:prSet>
      <dgm:spPr/>
    </dgm:pt>
    <dgm:pt modelId="{F41D3597-215E-2044-B01E-967FDA22F437}" type="pres">
      <dgm:prSet presAssocID="{F1EE521F-8580-384F-B8AC-66E76EC1FA8E}" presName="radial" presStyleCnt="0">
        <dgm:presLayoutVars>
          <dgm:animLvl val="ctr"/>
        </dgm:presLayoutVars>
      </dgm:prSet>
      <dgm:spPr/>
    </dgm:pt>
    <dgm:pt modelId="{7640B8B8-EE9C-CA44-A6CA-7A2E208519E3}" type="pres">
      <dgm:prSet presAssocID="{210E67A2-AE30-0944-BD0F-BBA4CDF7A964}" presName="centerShape" presStyleLbl="vennNode1" presStyleIdx="0" presStyleCnt="3"/>
      <dgm:spPr/>
    </dgm:pt>
    <dgm:pt modelId="{6CC07C78-3078-C94C-B7DF-3698C59C3E34}" type="pres">
      <dgm:prSet presAssocID="{D739080E-EE1A-5B49-BB5D-8D448871472D}" presName="node" presStyleLbl="vennNode1" presStyleIdx="1" presStyleCnt="3" custRadScaleRad="100860" custRadScaleInc="-50000">
        <dgm:presLayoutVars>
          <dgm:bulletEnabled val="1"/>
        </dgm:presLayoutVars>
      </dgm:prSet>
      <dgm:spPr/>
    </dgm:pt>
    <dgm:pt modelId="{D5A911D9-06F4-CC40-B1FB-B9A350F3E681}" type="pres">
      <dgm:prSet presAssocID="{192D5F22-F32E-7E43-8E36-12912FF5C8FA}" presName="node" presStyleLbl="vennNode1" presStyleIdx="2" presStyleCnt="3" custRadScaleRad="101854" custRadScaleInc="-50000">
        <dgm:presLayoutVars>
          <dgm:bulletEnabled val="1"/>
        </dgm:presLayoutVars>
      </dgm:prSet>
      <dgm:spPr/>
    </dgm:pt>
  </dgm:ptLst>
  <dgm:cxnLst>
    <dgm:cxn modelId="{70D7A815-2920-E646-B99D-6AC30753F074}" type="presOf" srcId="{210E67A2-AE30-0944-BD0F-BBA4CDF7A964}" destId="{7640B8B8-EE9C-CA44-A6CA-7A2E208519E3}" srcOrd="0" destOrd="0" presId="urn:microsoft.com/office/officeart/2005/8/layout/radial3"/>
    <dgm:cxn modelId="{3EE5AF35-7087-6B44-A0B5-822FFBB3484E}" srcId="{210E67A2-AE30-0944-BD0F-BBA4CDF7A964}" destId="{192D5F22-F32E-7E43-8E36-12912FF5C8FA}" srcOrd="1" destOrd="0" parTransId="{18FF4B60-81F8-9F4D-B099-1F9BDA2D849E}" sibTransId="{EC5C9F1A-019F-6B48-AFD1-6091D99EE1EB}"/>
    <dgm:cxn modelId="{73113FA8-E46D-8546-8B5B-39719A30ADCD}" srcId="{210E67A2-AE30-0944-BD0F-BBA4CDF7A964}" destId="{D739080E-EE1A-5B49-BB5D-8D448871472D}" srcOrd="0" destOrd="0" parTransId="{846758E1-EB78-B047-9FE3-0A16679612CC}" sibTransId="{6406D7AB-404D-5141-8475-F385C06040E5}"/>
    <dgm:cxn modelId="{3A4547A8-4901-854D-A30A-73D7C4D59C54}" type="presOf" srcId="{192D5F22-F32E-7E43-8E36-12912FF5C8FA}" destId="{D5A911D9-06F4-CC40-B1FB-B9A350F3E681}" srcOrd="0" destOrd="0" presId="urn:microsoft.com/office/officeart/2005/8/layout/radial3"/>
    <dgm:cxn modelId="{B40DAEB6-70B9-A544-9D39-407349DC5581}" type="presOf" srcId="{F1EE521F-8580-384F-B8AC-66E76EC1FA8E}" destId="{58E6A2F5-721F-8444-BD9F-D94416D2DBF2}" srcOrd="0" destOrd="0" presId="urn:microsoft.com/office/officeart/2005/8/layout/radial3"/>
    <dgm:cxn modelId="{C33E68D3-12B0-3543-B79B-DDBDC240B055}" type="presOf" srcId="{D739080E-EE1A-5B49-BB5D-8D448871472D}" destId="{6CC07C78-3078-C94C-B7DF-3698C59C3E34}" srcOrd="0" destOrd="0" presId="urn:microsoft.com/office/officeart/2005/8/layout/radial3"/>
    <dgm:cxn modelId="{22DF0ADA-32DC-954D-892B-A1EF2B5DCA26}" srcId="{F1EE521F-8580-384F-B8AC-66E76EC1FA8E}" destId="{210E67A2-AE30-0944-BD0F-BBA4CDF7A964}" srcOrd="0" destOrd="0" parTransId="{13D594ED-BE05-7747-AD72-CC80B957257C}" sibTransId="{FD67C8B1-ABEB-D146-A16C-1BD40DA72B67}"/>
    <dgm:cxn modelId="{16247D8E-F55B-084A-98B5-3DECDD92D965}" type="presParOf" srcId="{58E6A2F5-721F-8444-BD9F-D94416D2DBF2}" destId="{F41D3597-215E-2044-B01E-967FDA22F437}" srcOrd="0" destOrd="0" presId="urn:microsoft.com/office/officeart/2005/8/layout/radial3"/>
    <dgm:cxn modelId="{F8B7CA58-262A-9F40-ABD8-C13D407B2DF7}" type="presParOf" srcId="{F41D3597-215E-2044-B01E-967FDA22F437}" destId="{7640B8B8-EE9C-CA44-A6CA-7A2E208519E3}" srcOrd="0" destOrd="0" presId="urn:microsoft.com/office/officeart/2005/8/layout/radial3"/>
    <dgm:cxn modelId="{14E5ED4A-F124-9D47-81E9-395EBA64ABB1}" type="presParOf" srcId="{F41D3597-215E-2044-B01E-967FDA22F437}" destId="{6CC07C78-3078-C94C-B7DF-3698C59C3E34}" srcOrd="1" destOrd="0" presId="urn:microsoft.com/office/officeart/2005/8/layout/radial3"/>
    <dgm:cxn modelId="{4C56799A-9722-C348-A5FF-85712381E76A}" type="presParOf" srcId="{F41D3597-215E-2044-B01E-967FDA22F437}" destId="{D5A911D9-06F4-CC40-B1FB-B9A350F3E681}" srcOrd="2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40B8B8-EE9C-CA44-A6CA-7A2E208519E3}">
      <dsp:nvSpPr>
        <dsp:cNvPr id="0" name=""/>
        <dsp:cNvSpPr/>
      </dsp:nvSpPr>
      <dsp:spPr>
        <a:xfrm>
          <a:off x="4193976" y="1526976"/>
          <a:ext cx="3804046" cy="3804046"/>
        </a:xfrm>
        <a:prstGeom prst="ellipse">
          <a:avLst/>
        </a:prstGeom>
        <a:solidFill>
          <a:schemeClr val="accent3">
            <a:shade val="80000"/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Cambria Math" panose="02040503050406030204" pitchFamily="18" charset="0"/>
              <a:ea typeface="Cambria Math" panose="02040503050406030204" pitchFamily="18" charset="0"/>
            </a:rPr>
            <a:t>For every decisecond (0.1 seconds) up to 12 seconds before any goal…</a:t>
          </a:r>
        </a:p>
      </dsp:txBody>
      <dsp:txXfrm>
        <a:off x="4751066" y="2084066"/>
        <a:ext cx="2689866" cy="2689866"/>
      </dsp:txXfrm>
    </dsp:sp>
    <dsp:sp modelId="{6CC07C78-3078-C94C-B7DF-3698C59C3E34}">
      <dsp:nvSpPr>
        <dsp:cNvPr id="0" name=""/>
        <dsp:cNvSpPr/>
      </dsp:nvSpPr>
      <dsp:spPr>
        <a:xfrm>
          <a:off x="2646374" y="2477988"/>
          <a:ext cx="1902023" cy="1902023"/>
        </a:xfrm>
        <a:prstGeom prst="ellipse">
          <a:avLst/>
        </a:prstGeom>
        <a:solidFill>
          <a:schemeClr val="accent3">
            <a:shade val="80000"/>
            <a:alpha val="50000"/>
            <a:hueOff val="272799"/>
            <a:satOff val="-28446"/>
            <a:lumOff val="1911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Cambria Math" panose="02040503050406030204" pitchFamily="18" charset="0"/>
              <a:ea typeface="Cambria Math" panose="02040503050406030204" pitchFamily="18" charset="0"/>
            </a:rPr>
            <a:t>Player’s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Cambria Math" panose="02040503050406030204" pitchFamily="18" charset="0"/>
              <a:ea typeface="Cambria Math" panose="02040503050406030204" pitchFamily="18" charset="0"/>
            </a:rPr>
            <a:t>x &amp; y</a:t>
          </a:r>
          <a:endParaRPr lang="en-US" sz="24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2924919" y="2756533"/>
        <a:ext cx="1344933" cy="1344933"/>
      </dsp:txXfrm>
    </dsp:sp>
    <dsp:sp modelId="{D5A911D9-06F4-CC40-B1FB-B9A350F3E681}">
      <dsp:nvSpPr>
        <dsp:cNvPr id="0" name=""/>
        <dsp:cNvSpPr/>
      </dsp:nvSpPr>
      <dsp:spPr>
        <a:xfrm>
          <a:off x="7668226" y="2477988"/>
          <a:ext cx="1902023" cy="1902023"/>
        </a:xfrm>
        <a:prstGeom prst="ellipse">
          <a:avLst/>
        </a:prstGeom>
        <a:solidFill>
          <a:schemeClr val="accent3">
            <a:shade val="80000"/>
            <a:alpha val="50000"/>
            <a:hueOff val="545598"/>
            <a:satOff val="-56892"/>
            <a:lumOff val="38221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Cambria Math" panose="02040503050406030204" pitchFamily="18" charset="0"/>
              <a:ea typeface="Cambria Math" panose="02040503050406030204" pitchFamily="18" charset="0"/>
            </a:rPr>
            <a:t>Puck’s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Cambria Math" panose="02040503050406030204" pitchFamily="18" charset="0"/>
              <a:ea typeface="Cambria Math" panose="02040503050406030204" pitchFamily="18" charset="0"/>
            </a:rPr>
            <a:t>x &amp; y</a:t>
          </a:r>
          <a:endParaRPr lang="en-US" sz="2400" kern="1200" dirty="0">
            <a:latin typeface="Cambria Math" panose="02040503050406030204" pitchFamily="18" charset="0"/>
            <a:ea typeface="Cambria Math" panose="02040503050406030204" pitchFamily="18" charset="0"/>
          </a:endParaRPr>
        </a:p>
      </dsp:txBody>
      <dsp:txXfrm>
        <a:off x="7946771" y="2756533"/>
        <a:ext cx="1344933" cy="13449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45A381-7B0D-FA47-B45A-5742BCADC56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76FC0-9A52-EA4E-A147-2C8518D5A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3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76FC0-9A52-EA4E-A147-2C8518D5A6B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30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9536A-0348-FEA1-9291-EA1BAF924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F0EF5-94CE-CD3D-93DD-1C917261B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F3E05-9195-E4BA-51AB-49BDFB32D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E7EF4-4AF6-BC6B-3574-2A99CB52F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76FC0-9A52-EA4E-A147-2C8518D5A6B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57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971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021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382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2/23/26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814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2/23/26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072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2/23/26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587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2/23/26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206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2/23/26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503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2/23/26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03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68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41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BCC6876-C5F6-C848-9706-E462062BCA22}" type="datetimeFigureOut">
              <a:rPr lang="en-US" smtClean="0"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5746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FB77E-FA52-D8E1-77B9-CC6A6D1ECA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37745"/>
            <a:ext cx="9144000" cy="158251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Tahoma" panose="020B0604030504040204" pitchFamily="34" charset="0"/>
              </a:rPr>
              <a:t>Pass Detection using NHL’s Puck &amp; Player Tracking (PPT)</a:t>
            </a:r>
          </a:p>
        </p:txBody>
      </p:sp>
    </p:spTree>
    <p:extLst>
      <p:ext uri="{BB962C8B-B14F-4D97-AF65-F5344CB8AC3E}">
        <p14:creationId xmlns:p14="http://schemas.microsoft.com/office/powerpoint/2010/main" val="3728418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A26A562C-7A04-5F9C-91F5-28EA2025D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80" y="1207017"/>
            <a:ext cx="8010833" cy="4443965"/>
          </a:xfrm>
          <a:prstGeom prst="rect">
            <a:avLst/>
          </a:prstGeom>
        </p:spPr>
      </p:pic>
      <p:pic>
        <p:nvPicPr>
          <p:cNvPr id="12" name="Picture 11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2E72F71E-4CDE-C1EF-328D-A9D8AE597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013" y="2124996"/>
            <a:ext cx="2608007" cy="260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88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BC4E3-3DA9-31CF-6AE3-F39485EDC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web page&#10;&#10;AI-generated content may be incorrect.">
            <a:extLst>
              <a:ext uri="{FF2B5EF4-FFF2-40B4-BE49-F238E27FC236}">
                <a16:creationId xmlns:a16="http://schemas.microsoft.com/office/drawing/2014/main" id="{17B0B116-312A-4B3F-1460-DC3B0B84E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90543"/>
            <a:ext cx="7772400" cy="587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35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46573-F55C-7143-B813-D5CF1F442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4D9C66-0008-9B9A-3055-6EEE9277E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18" y="798927"/>
            <a:ext cx="8168877" cy="5260146"/>
          </a:xfrm>
          <a:prstGeom prst="rect">
            <a:avLst/>
          </a:prstGeom>
        </p:spPr>
      </p:pic>
      <p:pic>
        <p:nvPicPr>
          <p:cNvPr id="9" name="Picture 8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522A4301-C8AC-163A-EEE4-53C9439B4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569" y="2122743"/>
            <a:ext cx="2612513" cy="261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710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030DD-3F44-B0B4-AB5B-8EFE2B818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E3542518-BFE5-4AB2-04A5-4998A7902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084" y="283841"/>
            <a:ext cx="5909831" cy="1951359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9202AEE-8095-279A-97CB-E1A83774CB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1032998"/>
              </p:ext>
            </p:extLst>
          </p:nvPr>
        </p:nvGraphicFramePr>
        <p:xfrm>
          <a:off x="0" y="947057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71898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0D20-3BB3-6BB8-52F2-9CDB408C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ln w="76200">
            <a:solidFill>
              <a:srgbClr val="FF0000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4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Pre-shot pass movement is dismissed.</a:t>
            </a:r>
          </a:p>
        </p:txBody>
      </p:sp>
    </p:spTree>
    <p:extLst>
      <p:ext uri="{BB962C8B-B14F-4D97-AF65-F5344CB8AC3E}">
        <p14:creationId xmlns:p14="http://schemas.microsoft.com/office/powerpoint/2010/main" val="2159905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2116</TotalTime>
  <Words>42</Words>
  <Application>Microsoft Macintosh PowerPoint</Application>
  <PresentationFormat>Widescreen</PresentationFormat>
  <Paragraphs>9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Office Theme</vt:lpstr>
      <vt:lpstr>Pass Detection using NHL’s Puck &amp; Player Tracking (PPT)</vt:lpstr>
      <vt:lpstr>PowerPoint Presentation</vt:lpstr>
      <vt:lpstr>PowerPoint Presentation</vt:lpstr>
      <vt:lpstr>PowerPoint Presentation</vt:lpstr>
      <vt:lpstr>PowerPoint Presentation</vt:lpstr>
      <vt:lpstr>Pre-shot pass movement is dismissed.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Rento Saijo</dc:creator>
  <cp:lastModifiedBy>Rento Saijo</cp:lastModifiedBy>
  <cp:revision>32</cp:revision>
  <dcterms:created xsi:type="dcterms:W3CDTF">2025-10-15T20:32:50Z</dcterms:created>
  <dcterms:modified xsi:type="dcterms:W3CDTF">2026-02-23T18:23:39Z</dcterms:modified>
</cp:coreProperties>
</file>